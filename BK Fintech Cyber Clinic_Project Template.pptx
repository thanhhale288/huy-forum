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CECA7B-092A-422E-AA2F-C2411AC3DCC7}">
  <a:tblStyle styleId="{C1CECA7B-092A-422E-AA2F-C2411AC3DCC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5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6ddb9e627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6ddb9e627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6ddb9e627_0_1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g3f6ddb9e627_0_1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6ddb9e627_0_2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f6ddb9e627_0_2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6ddb9e627_0_2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f6ddb9e627_0_2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6ddb9e627_0_3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f6ddb9e627_0_3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6ddb9e627_0_3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f6ddb9e627_0_3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6ddb9e627_0_3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f6ddb9e627_0_3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6ddb9e627_0_4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f6ddb9e627_0_4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6ddb9e627_0_4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f6ddb9e627_0_4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6ddb9e627_0_4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f6ddb9e627_0_4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6ddb9e627_0_4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f6ddb9e627_0_4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6ddb9e627_0_5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f6ddb9e627_0_5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6ddb9e627_0_5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g3f6ddb9e627_0_5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6ddb9e627_0_5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g3f6ddb9e627_0_5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6ddb9e627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6ddb9e627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224405" y="4936201"/>
            <a:ext cx="63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1">
  <p:cSld name="1_Title &amp; Bulle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224405" y="4936201"/>
            <a:ext cx="63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54" name="Google Shape;54;p14"/>
          <p:cNvSpPr/>
          <p:nvPr/>
        </p:nvSpPr>
        <p:spPr>
          <a:xfrm>
            <a:off x="363682" y="30327"/>
            <a:ext cx="8686800" cy="49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8827059" y="279465"/>
            <a:ext cx="90900" cy="90900"/>
          </a:xfrm>
          <a:prstGeom prst="ellipse">
            <a:avLst/>
          </a:prstGeom>
          <a:solidFill>
            <a:schemeClr val="lt1"/>
          </a:solidFill>
          <a:ln cap="flat" cmpd="sng" w="15875">
            <a:solidFill>
              <a:srgbClr val="CE2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>
            <a:off x="462396" y="324907"/>
            <a:ext cx="8364600" cy="0"/>
          </a:xfrm>
          <a:prstGeom prst="straightConnector1">
            <a:avLst/>
          </a:prstGeom>
          <a:noFill/>
          <a:ln cap="flat" cmpd="sng" w="15875">
            <a:solidFill>
              <a:srgbClr val="CE2C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4"/>
          <p:cNvSpPr/>
          <p:nvPr/>
        </p:nvSpPr>
        <p:spPr>
          <a:xfrm>
            <a:off x="8610600" y="4886325"/>
            <a:ext cx="533400" cy="257100"/>
          </a:xfrm>
          <a:prstGeom prst="rect">
            <a:avLst/>
          </a:prstGeom>
          <a:solidFill>
            <a:srgbClr val="CF2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151655" y="1248450"/>
            <a:ext cx="88407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4000">
                <a:solidFill>
                  <a:srgbClr val="CE2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BẢO VỆ AN TOÀN THÔNG TIN CHO DOANH NGHIỆP</a:t>
            </a:r>
            <a:endParaRPr>
              <a:solidFill>
                <a:srgbClr val="CE2C00"/>
              </a:solidFill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776536" y="832952"/>
            <a:ext cx="721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100">
                <a:solidFill>
                  <a:srgbClr val="000000"/>
                </a:solidFill>
              </a:rPr>
              <a:t>[TÊN CÔNG TY]</a:t>
            </a:r>
            <a:endParaRPr b="1" sz="2100">
              <a:solidFill>
                <a:srgbClr val="000000"/>
              </a:solidFill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776521" y="2722734"/>
            <a:ext cx="87129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000000"/>
                </a:solidFill>
              </a:rPr>
              <a:t>Ⅰ. Tình hình công ty</a:t>
            </a:r>
            <a:endParaRPr b="1"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000000"/>
                </a:solidFill>
              </a:rPr>
              <a:t>II. Các rủi ro đã xảy ra ở các công ty/ đơn vị khác</a:t>
            </a:r>
            <a:endParaRPr b="1">
              <a:solidFill>
                <a:srgbClr val="000000"/>
              </a:solidFill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000000"/>
                </a:solidFill>
              </a:rPr>
              <a:t>III. Các quy định của Pháp luật hiện tại về an toàn thông tin, an ninh mạng</a:t>
            </a:r>
            <a:endParaRPr b="1">
              <a:solidFill>
                <a:srgbClr val="000000"/>
              </a:solidFill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000000"/>
                </a:solidFill>
              </a:rPr>
              <a:t>IV. Các tài sản số của công ty/ đơn vị</a:t>
            </a:r>
            <a:endParaRPr b="1">
              <a:solidFill>
                <a:srgbClr val="000000"/>
              </a:solidFill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000000"/>
                </a:solidFill>
              </a:rPr>
              <a:t>V. Các vấn đề tồn đọng về an toàn thông tin</a:t>
            </a:r>
            <a:endParaRPr b="1"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000000"/>
                </a:solidFill>
              </a:rPr>
              <a:t>VI. Hoạt động và kết quả hỗ trợ</a:t>
            </a:r>
            <a:endParaRPr b="1"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000000"/>
                </a:solidFill>
              </a:rPr>
              <a:t>ⅤII. Hạng mục cải tiến, hỗ trợ tiếp theo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12816" l="0" r="23885" t="0"/>
          <a:stretch/>
        </p:blipFill>
        <p:spPr>
          <a:xfrm>
            <a:off x="6989656" y="3636275"/>
            <a:ext cx="2182350" cy="15072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6702153" y="188406"/>
            <a:ext cx="2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[LOGO CÔNG TY]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" name="Google Shape;67;p15" title="APAC Cybersecurity Fund log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516" y="177943"/>
            <a:ext cx="1911248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title="BKFintech Logo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8420" y="234025"/>
            <a:ext cx="1465061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Google 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77947" y="4690475"/>
            <a:ext cx="995679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Logo VWEC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38400" y="188400"/>
            <a:ext cx="418825" cy="46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394850" y="0"/>
            <a:ext cx="3090600" cy="677400"/>
          </a:xfrm>
          <a:prstGeom prst="rect">
            <a:avLst/>
          </a:prstGeom>
          <a:solidFill>
            <a:srgbClr val="CF2800"/>
          </a:solidFill>
          <a:ln>
            <a:noFill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TÌNH HÌNH CÔNG TY</a:t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224405" y="4936201"/>
            <a:ext cx="63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6572903" y="450081"/>
            <a:ext cx="2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[LOGO CÔNG TY]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94844" y="1215830"/>
            <a:ext cx="315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000000"/>
                </a:solidFill>
              </a:rPr>
              <a:t>Giới thiệu công ty</a:t>
            </a:r>
            <a:endParaRPr/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420503" y="15601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{C1CECA7B-092A-422E-AA2F-C2411AC3DCC7}</a:tableStyleId>
              </a:tblPr>
              <a:tblGrid>
                <a:gridCol w="2304250"/>
                <a:gridCol w="1767700"/>
              </a:tblGrid>
              <a:tr h="34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vi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Giám đốc điều hành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3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vi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Ngày thành lập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3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vi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Nguồn vốn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3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/>
                    </a:p>
                  </a:txBody>
                  <a:tcPr marT="45725" marB="45725" marR="9145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vi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Sản phẩm/ dịch vụ chính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3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vi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Doanh thu năm 2025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3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vi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Số lượng máy tính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3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vi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Số lao động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3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" name="Google Shape;80;p16"/>
          <p:cNvSpPr txBox="1"/>
          <p:nvPr/>
        </p:nvSpPr>
        <p:spPr>
          <a:xfrm>
            <a:off x="420505" y="4143654"/>
            <a:ext cx="380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>
                <a:solidFill>
                  <a:srgbClr val="000000"/>
                </a:solidFill>
              </a:rPr>
              <a:t>[CÁC SẢN PHẨM/ DỊCH VỤ CHÍNH]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4719151" y="1560148"/>
            <a:ext cx="1993800" cy="1018500"/>
          </a:xfrm>
          <a:prstGeom prst="roundRect">
            <a:avLst>
              <a:gd fmla="val 16667" name="adj"/>
            </a:avLst>
          </a:prstGeom>
          <a:noFill/>
          <a:ln cap="flat" cmpd="sng" w="10375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7325" lIns="74675" spcFirstLastPara="1" rIns="74675" wrap="square" tIns="37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719150" y="1825550"/>
            <a:ext cx="1993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9"/>
              <a:buFont typeface="Arial"/>
              <a:buNone/>
            </a:pPr>
            <a:r>
              <a:rPr b="1" lang="vi" sz="1289">
                <a:solidFill>
                  <a:srgbClr val="063A65"/>
                </a:solidFill>
              </a:rPr>
              <a:t>QUY TRÌNH </a:t>
            </a:r>
            <a:endParaRPr b="1" sz="1289">
              <a:solidFill>
                <a:srgbClr val="063A6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9"/>
              <a:buFont typeface="Arial"/>
              <a:buNone/>
            </a:pPr>
            <a:r>
              <a:rPr b="1" lang="vi" sz="1289">
                <a:solidFill>
                  <a:srgbClr val="063A65"/>
                </a:solidFill>
              </a:rPr>
              <a:t>SẢN XUẤT / </a:t>
            </a:r>
            <a:endParaRPr b="1" sz="1289">
              <a:solidFill>
                <a:srgbClr val="063A6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9"/>
              <a:buFont typeface="Arial"/>
              <a:buNone/>
            </a:pPr>
            <a:r>
              <a:rPr b="1" lang="vi" sz="1289">
                <a:solidFill>
                  <a:srgbClr val="063A65"/>
                </a:solidFill>
              </a:rPr>
              <a:t>KIN</a:t>
            </a:r>
            <a:r>
              <a:rPr b="1" lang="vi" sz="1289">
                <a:solidFill>
                  <a:srgbClr val="063A65"/>
                </a:solidFill>
              </a:rPr>
              <a:t>H</a:t>
            </a:r>
            <a:r>
              <a:rPr b="1" lang="vi" sz="1289">
                <a:solidFill>
                  <a:srgbClr val="063A65"/>
                </a:solidFill>
              </a:rPr>
              <a:t> DOANH CHÍNH</a:t>
            </a:r>
            <a:endParaRPr b="1" sz="1289">
              <a:solidFill>
                <a:srgbClr val="063A65"/>
              </a:solidFill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6869312" y="1560148"/>
            <a:ext cx="1993800" cy="1018500"/>
          </a:xfrm>
          <a:prstGeom prst="roundRect">
            <a:avLst>
              <a:gd fmla="val 16667" name="adj"/>
            </a:avLst>
          </a:prstGeom>
          <a:noFill/>
          <a:ln cap="flat" cmpd="sng" w="10375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7325" lIns="74675" spcFirstLastPara="1" rIns="74675" wrap="square" tIns="37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6869312" y="1852938"/>
            <a:ext cx="1993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9"/>
              <a:buFont typeface="Arial"/>
              <a:buNone/>
            </a:pPr>
            <a:r>
              <a:rPr b="1" lang="vi" sz="1289">
                <a:solidFill>
                  <a:srgbClr val="063A65"/>
                </a:solidFill>
              </a:rPr>
              <a:t>HÌNH ẢNH SẢN PHẨM / THIẾT BỊ</a:t>
            </a:r>
            <a:endParaRPr b="0" i="0" sz="1289" u="none" cap="none" strike="noStrike">
              <a:solidFill>
                <a:srgbClr val="063A6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/>
        </p:nvSpPr>
        <p:spPr>
          <a:xfrm>
            <a:off x="394850" y="0"/>
            <a:ext cx="5822700" cy="985200"/>
          </a:xfrm>
          <a:prstGeom prst="rect">
            <a:avLst/>
          </a:prstGeom>
          <a:solidFill>
            <a:srgbClr val="CF2800"/>
          </a:solidFill>
          <a:ln>
            <a:noFill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CÁC TÌNH HUỐNG RỦI RO ĐÃ XẢY RA 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Ở CÔNG TY KHÁC</a:t>
            </a:r>
            <a:endParaRPr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224405" y="4936201"/>
            <a:ext cx="63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6572903" y="450081"/>
            <a:ext cx="2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[LOGO CÔNG TY]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724245" y="1396941"/>
            <a:ext cx="2440800" cy="12468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714720" y="1755439"/>
            <a:ext cx="24408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vi" sz="1700">
                <a:solidFill>
                  <a:srgbClr val="063A65"/>
                </a:solidFill>
              </a:rPr>
              <a:t>TÊN RỦI RO</a:t>
            </a:r>
            <a:endParaRPr b="0" i="0" sz="1700" u="none" cap="none" strike="noStrike">
              <a:solidFill>
                <a:srgbClr val="063A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3346846" y="1396941"/>
            <a:ext cx="2440800" cy="12468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3351608" y="1755439"/>
            <a:ext cx="24408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vi" sz="1700">
                <a:solidFill>
                  <a:srgbClr val="063A65"/>
                </a:solidFill>
              </a:rPr>
              <a:t>HÌNH ẢNH / </a:t>
            </a:r>
            <a:endParaRPr b="1" sz="1700">
              <a:solidFill>
                <a:srgbClr val="063A6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vi" sz="1700">
                <a:solidFill>
                  <a:srgbClr val="063A65"/>
                </a:solidFill>
              </a:rPr>
              <a:t>GIẢI THÍCH RỦI RO</a:t>
            </a:r>
            <a:endParaRPr b="0" i="0" sz="1700" u="none" cap="none" strike="noStrike">
              <a:solidFill>
                <a:srgbClr val="063A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5978973" y="1396941"/>
            <a:ext cx="2440800" cy="12468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5978945" y="1755439"/>
            <a:ext cx="24408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vi" sz="1700">
                <a:solidFill>
                  <a:srgbClr val="063A65"/>
                </a:solidFill>
              </a:rPr>
              <a:t>THIỆT HẠI</a:t>
            </a:r>
            <a:endParaRPr b="0" i="0" sz="1700" u="none" cap="none" strike="noStrike">
              <a:solidFill>
                <a:srgbClr val="063A6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/>
        </p:nvSpPr>
        <p:spPr>
          <a:xfrm>
            <a:off x="394850" y="0"/>
            <a:ext cx="5822700" cy="677400"/>
          </a:xfrm>
          <a:prstGeom prst="rect">
            <a:avLst/>
          </a:prstGeom>
          <a:solidFill>
            <a:srgbClr val="CF2800"/>
          </a:solidFill>
          <a:ln>
            <a:noFill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CÁC QUY ĐỊNH PHÁP LUẬT HIỆN TẠI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8224405" y="4936201"/>
            <a:ext cx="63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6572903" y="450081"/>
            <a:ext cx="2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[LOGO CÔNG TY]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556519" y="2678050"/>
            <a:ext cx="8315400" cy="556800"/>
          </a:xfrm>
          <a:prstGeom prst="roundRect">
            <a:avLst>
              <a:gd fmla="val 16667" name="adj"/>
            </a:avLst>
          </a:prstGeom>
          <a:solidFill>
            <a:srgbClr val="EFF9FF"/>
          </a:solidFill>
          <a:ln cap="flat" cmpd="sng" w="19050">
            <a:solidFill>
              <a:srgbClr val="0044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547730" y="1919535"/>
            <a:ext cx="8315400" cy="556800"/>
          </a:xfrm>
          <a:prstGeom prst="roundRect">
            <a:avLst>
              <a:gd fmla="val 16667" name="adj"/>
            </a:avLst>
          </a:prstGeom>
          <a:solidFill>
            <a:srgbClr val="FFD3C9"/>
          </a:solidFill>
          <a:ln cap="flat" cmpd="sng" w="19050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547730" y="1161020"/>
            <a:ext cx="8315400" cy="556800"/>
          </a:xfrm>
          <a:prstGeom prst="roundRect">
            <a:avLst>
              <a:gd fmla="val 16667" name="adj"/>
            </a:avLst>
          </a:prstGeom>
          <a:solidFill>
            <a:srgbClr val="EFF9FF"/>
          </a:solidFill>
          <a:ln cap="flat" cmpd="sng" w="19050">
            <a:solidFill>
              <a:srgbClr val="0044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2863972" y="1242664"/>
            <a:ext cx="744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/>
              <a:t>NỘI DUNG QUAN TRỌNG CẦN VIỆN DẪN MÀ DOANH NGHIỆP CẦN NHẬN BIẾT</a:t>
            </a:r>
            <a:endParaRPr sz="1200"/>
          </a:p>
        </p:txBody>
      </p:sp>
      <p:sp>
        <p:nvSpPr>
          <p:cNvPr id="109" name="Google Shape;109;p18"/>
          <p:cNvSpPr/>
          <p:nvPr/>
        </p:nvSpPr>
        <p:spPr>
          <a:xfrm>
            <a:off x="2863972" y="2019904"/>
            <a:ext cx="744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vi" sz="1200">
                <a:solidFill>
                  <a:schemeClr val="dk1"/>
                </a:solidFill>
              </a:rPr>
              <a:t>NỘI DUNG QUAN TRỌNG CẦN VIỆN DẪN MÀ DOANH NGHIỆP CẦN NHẬN BIẾT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2863972" y="2770002"/>
            <a:ext cx="744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vi" sz="1200">
                <a:solidFill>
                  <a:schemeClr val="dk1"/>
                </a:solidFill>
              </a:rPr>
              <a:t>NỘI DUNG QUAN TRỌNG CẦN VIỆN DẪN MÀ DOANH NGHIỆP CẦN NHẬN BIẾT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675137" y="1243477"/>
            <a:ext cx="75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vi" sz="1200"/>
              <a:t>Tên luật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675122" y="2005936"/>
            <a:ext cx="210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vi" sz="1200"/>
              <a:t>Tên luật</a:t>
            </a:r>
            <a:endParaRPr b="1" sz="1200"/>
          </a:p>
        </p:txBody>
      </p:sp>
      <p:sp>
        <p:nvSpPr>
          <p:cNvPr id="113" name="Google Shape;113;p18"/>
          <p:cNvSpPr/>
          <p:nvPr/>
        </p:nvSpPr>
        <p:spPr>
          <a:xfrm>
            <a:off x="675123" y="2767054"/>
            <a:ext cx="210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vi" sz="1200">
                <a:solidFill>
                  <a:schemeClr val="dk1"/>
                </a:solidFill>
              </a:rPr>
              <a:t>Tên luật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18"/>
          <p:cNvCxnSpPr/>
          <p:nvPr/>
        </p:nvCxnSpPr>
        <p:spPr>
          <a:xfrm>
            <a:off x="2674879" y="1210296"/>
            <a:ext cx="0" cy="418500"/>
          </a:xfrm>
          <a:prstGeom prst="straightConnector1">
            <a:avLst/>
          </a:prstGeom>
          <a:noFill/>
          <a:ln cap="flat" cmpd="sng" w="9525">
            <a:solidFill>
              <a:srgbClr val="00426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18"/>
          <p:cNvCxnSpPr/>
          <p:nvPr/>
        </p:nvCxnSpPr>
        <p:spPr>
          <a:xfrm>
            <a:off x="2674879" y="2736201"/>
            <a:ext cx="0" cy="418500"/>
          </a:xfrm>
          <a:prstGeom prst="straightConnector1">
            <a:avLst/>
          </a:prstGeom>
          <a:noFill/>
          <a:ln cap="flat" cmpd="sng" w="9525">
            <a:solidFill>
              <a:srgbClr val="00426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18"/>
          <p:cNvCxnSpPr/>
          <p:nvPr/>
        </p:nvCxnSpPr>
        <p:spPr>
          <a:xfrm>
            <a:off x="2674879" y="1988693"/>
            <a:ext cx="0" cy="418500"/>
          </a:xfrm>
          <a:prstGeom prst="straightConnector1">
            <a:avLst/>
          </a:prstGeom>
          <a:noFill/>
          <a:ln cap="flat" cmpd="sng" w="9525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394850" y="0"/>
            <a:ext cx="5822700" cy="677400"/>
          </a:xfrm>
          <a:prstGeom prst="rect">
            <a:avLst/>
          </a:prstGeom>
          <a:solidFill>
            <a:srgbClr val="CF2800"/>
          </a:solidFill>
          <a:ln>
            <a:noFill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CÁC TÀI SẢN SỐ CỦA CÔNG TY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8224405" y="4936201"/>
            <a:ext cx="63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6572903" y="450081"/>
            <a:ext cx="2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[LOGO CÔNG TY]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419209" y="1476100"/>
            <a:ext cx="8196300" cy="2861700"/>
          </a:xfrm>
          <a:prstGeom prst="roundRect">
            <a:avLst>
              <a:gd fmla="val 5837" name="adj"/>
            </a:avLst>
          </a:prstGeom>
          <a:solidFill>
            <a:srgbClr val="CF2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394850" y="1560652"/>
            <a:ext cx="8245200" cy="2861700"/>
          </a:xfrm>
          <a:prstGeom prst="roundRect">
            <a:avLst>
              <a:gd fmla="val 5837" name="adj"/>
            </a:avLst>
          </a:prstGeom>
          <a:solidFill>
            <a:srgbClr val="FD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1542304" y="1712988"/>
            <a:ext cx="655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Sắp xếp theo thứ tự quan trọng từ cao xuống thấp</a:t>
            </a:r>
            <a:endParaRPr/>
          </a:p>
        </p:txBody>
      </p:sp>
      <p:pic>
        <p:nvPicPr>
          <p:cNvPr descr="image.png" id="127" name="Google Shape;1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582" y="2194891"/>
            <a:ext cx="7732877" cy="333488"/>
          </a:xfrm>
          <a:prstGeom prst="rect">
            <a:avLst/>
          </a:prstGeom>
          <a:solidFill>
            <a:srgbClr val="FEFFFF"/>
          </a:solidFill>
          <a:ln>
            <a:noFill/>
          </a:ln>
        </p:spPr>
      </p:pic>
      <p:pic>
        <p:nvPicPr>
          <p:cNvPr descr="image.png" id="128" name="Google Shape;1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582" y="2624695"/>
            <a:ext cx="7732877" cy="333488"/>
          </a:xfrm>
          <a:prstGeom prst="rect">
            <a:avLst/>
          </a:prstGeom>
          <a:solidFill>
            <a:srgbClr val="FEFFFF"/>
          </a:solidFill>
          <a:ln>
            <a:noFill/>
          </a:ln>
        </p:spPr>
      </p:pic>
      <p:pic>
        <p:nvPicPr>
          <p:cNvPr descr="image.png" id="129" name="Google Shape;1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582" y="3042735"/>
            <a:ext cx="7732877" cy="333488"/>
          </a:xfrm>
          <a:prstGeom prst="rect">
            <a:avLst/>
          </a:prstGeom>
          <a:solidFill>
            <a:srgbClr val="FEFFFF"/>
          </a:solidFill>
          <a:ln>
            <a:noFill/>
          </a:ln>
        </p:spPr>
      </p:pic>
      <p:pic>
        <p:nvPicPr>
          <p:cNvPr descr="image.png" id="130" name="Google Shape;1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582" y="3464657"/>
            <a:ext cx="7732877" cy="333488"/>
          </a:xfrm>
          <a:prstGeom prst="rect">
            <a:avLst/>
          </a:prstGeom>
          <a:solidFill>
            <a:srgbClr val="FEFFFF"/>
          </a:solidFill>
          <a:ln>
            <a:noFill/>
          </a:ln>
        </p:spPr>
      </p:pic>
      <p:pic>
        <p:nvPicPr>
          <p:cNvPr descr="image.png" id="131" name="Google Shape;1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825" y="3893250"/>
            <a:ext cx="7732877" cy="333488"/>
          </a:xfrm>
          <a:prstGeom prst="rect">
            <a:avLst/>
          </a:prstGeom>
          <a:solidFill>
            <a:srgbClr val="FEFFFF"/>
          </a:solidFill>
          <a:ln>
            <a:noFill/>
          </a:ln>
        </p:spPr>
      </p:pic>
      <p:sp>
        <p:nvSpPr>
          <p:cNvPr id="132" name="Google Shape;132;p19"/>
          <p:cNvSpPr txBox="1"/>
          <p:nvPr/>
        </p:nvSpPr>
        <p:spPr>
          <a:xfrm>
            <a:off x="1140772" y="2213366"/>
            <a:ext cx="770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/>
              <a:t>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1140768" y="2633935"/>
            <a:ext cx="770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/>
              <a:t>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1125922" y="3061698"/>
            <a:ext cx="767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/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1138919" y="3502184"/>
            <a:ext cx="7724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/>
              <a:t>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1125922" y="3917176"/>
            <a:ext cx="7577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/>
              <a:t>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/>
        </p:nvSpPr>
        <p:spPr>
          <a:xfrm>
            <a:off x="394850" y="0"/>
            <a:ext cx="5822700" cy="677400"/>
          </a:xfrm>
          <a:prstGeom prst="rect">
            <a:avLst/>
          </a:prstGeom>
          <a:solidFill>
            <a:srgbClr val="CF2800"/>
          </a:solidFill>
          <a:ln>
            <a:noFill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RỦI RO VÀ CÁC VẤN ĐỀ TỒN ĐỌNG</a:t>
            </a:r>
            <a:endParaRPr/>
          </a:p>
        </p:txBody>
      </p:sp>
      <p:sp>
        <p:nvSpPr>
          <p:cNvPr id="142" name="Google Shape;142;p20"/>
          <p:cNvSpPr txBox="1"/>
          <p:nvPr>
            <p:ph idx="12" type="sldNum"/>
          </p:nvPr>
        </p:nvSpPr>
        <p:spPr>
          <a:xfrm>
            <a:off x="8224405" y="4936201"/>
            <a:ext cx="63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6572903" y="450081"/>
            <a:ext cx="2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[LOGO CÔNG TY]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1064249" y="1173593"/>
            <a:ext cx="7015500" cy="550800"/>
          </a:xfrm>
          <a:prstGeom prst="roundRect">
            <a:avLst>
              <a:gd fmla="val 16667" name="adj"/>
            </a:avLst>
          </a:prstGeom>
          <a:solidFill>
            <a:srgbClr val="FFD3C9"/>
          </a:solidFill>
          <a:ln cap="flat" cmpd="sng" w="25400">
            <a:solidFill>
              <a:srgbClr val="0044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Phân loại </a:t>
            </a:r>
            <a:r>
              <a:rPr b="1" lang="vi" sz="1600">
                <a:solidFill>
                  <a:schemeClr val="dk1"/>
                </a:solidFill>
              </a:rPr>
              <a:t>rủi ro</a:t>
            </a:r>
            <a:r>
              <a:rPr b="1" i="0" lang="vi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mô hình 3 cấp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1064250" y="1851614"/>
            <a:ext cx="189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00B0F0"/>
                </a:solidFill>
              </a:rPr>
              <a:t>Rủi ro từ con người</a:t>
            </a:r>
            <a:endParaRPr b="1" i="0" sz="1400" u="none" cap="none" strike="noStrik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1064250" y="2809824"/>
            <a:ext cx="2618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D09E00"/>
                </a:solidFill>
              </a:rPr>
              <a:t>Rủi ro kỹ thuật</a:t>
            </a:r>
            <a:endParaRPr b="1" i="0" sz="1400" u="none" cap="none" strike="noStrike">
              <a:solidFill>
                <a:srgbClr val="D09E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1064250" y="3800402"/>
            <a:ext cx="294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CF2800"/>
                </a:solidFill>
              </a:rPr>
              <a:t>Rủi ro quy trình và tuân thủ</a:t>
            </a:r>
            <a:endParaRPr b="1" i="0" sz="1400" u="none" cap="none" strike="noStrike">
              <a:solidFill>
                <a:srgbClr val="CF28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20"/>
          <p:cNvCxnSpPr/>
          <p:nvPr/>
        </p:nvCxnSpPr>
        <p:spPr>
          <a:xfrm>
            <a:off x="1432649" y="2761920"/>
            <a:ext cx="6454800" cy="0"/>
          </a:xfrm>
          <a:prstGeom prst="straightConnector1">
            <a:avLst/>
          </a:prstGeom>
          <a:noFill/>
          <a:ln cap="flat" cmpd="sng" w="9525">
            <a:solidFill>
              <a:srgbClr val="00426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20"/>
          <p:cNvCxnSpPr/>
          <p:nvPr/>
        </p:nvCxnSpPr>
        <p:spPr>
          <a:xfrm>
            <a:off x="1432649" y="3763791"/>
            <a:ext cx="6454800" cy="0"/>
          </a:xfrm>
          <a:prstGeom prst="straightConnector1">
            <a:avLst/>
          </a:prstGeom>
          <a:noFill/>
          <a:ln cap="flat" cmpd="sng" w="9525">
            <a:solidFill>
              <a:srgbClr val="00426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/>
        </p:nvSpPr>
        <p:spPr>
          <a:xfrm>
            <a:off x="394850" y="0"/>
            <a:ext cx="5822700" cy="677400"/>
          </a:xfrm>
          <a:prstGeom prst="rect">
            <a:avLst/>
          </a:prstGeom>
          <a:solidFill>
            <a:srgbClr val="CF2800"/>
          </a:solidFill>
          <a:ln>
            <a:noFill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CHI TIẾT CÁC VẤN ĐỀ TỒN ĐỌNG</a:t>
            </a:r>
            <a:endParaRPr/>
          </a:p>
        </p:txBody>
      </p:sp>
      <p:sp>
        <p:nvSpPr>
          <p:cNvPr id="155" name="Google Shape;155;p21"/>
          <p:cNvSpPr txBox="1"/>
          <p:nvPr>
            <p:ph idx="12" type="sldNum"/>
          </p:nvPr>
        </p:nvSpPr>
        <p:spPr>
          <a:xfrm>
            <a:off x="8224405" y="4936201"/>
            <a:ext cx="63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156" name="Google Shape;156;p21"/>
          <p:cNvSpPr txBox="1"/>
          <p:nvPr/>
        </p:nvSpPr>
        <p:spPr>
          <a:xfrm>
            <a:off x="6572903" y="450081"/>
            <a:ext cx="2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[LOGO CÔNG TY]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394854" y="1514161"/>
            <a:ext cx="8468100" cy="2957700"/>
          </a:xfrm>
          <a:prstGeom prst="roundRect">
            <a:avLst>
              <a:gd fmla="val 16667" name="adj"/>
            </a:avLst>
          </a:prstGeom>
          <a:solidFill>
            <a:srgbClr val="FFECE7"/>
          </a:solidFill>
          <a:ln cap="flat" cmpd="sng" w="19050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598640" y="2520429"/>
            <a:ext cx="8052300" cy="9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vi" sz="1200"/>
              <a:t>Nội dung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394850" y="1283712"/>
            <a:ext cx="4572600" cy="677400"/>
          </a:xfrm>
          <a:prstGeom prst="roundRect">
            <a:avLst>
              <a:gd fmla="val 16667" name="adj"/>
            </a:avLst>
          </a:prstGeom>
          <a:solidFill>
            <a:srgbClr val="CF2800"/>
          </a:solidFill>
          <a:ln cap="flat" cmpd="sng" w="19050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FFFFFF"/>
                </a:solidFill>
              </a:rPr>
              <a:t>Con người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/>
        </p:nvSpPr>
        <p:spPr>
          <a:xfrm>
            <a:off x="394850" y="0"/>
            <a:ext cx="5822700" cy="677400"/>
          </a:xfrm>
          <a:prstGeom prst="rect">
            <a:avLst/>
          </a:prstGeom>
          <a:solidFill>
            <a:srgbClr val="CF2800"/>
          </a:solidFill>
          <a:ln>
            <a:noFill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CHI TIẾT CÁC VẤN ĐỀ TỒN ĐỌNG</a:t>
            </a:r>
            <a:endParaRPr/>
          </a:p>
        </p:txBody>
      </p:sp>
      <p:sp>
        <p:nvSpPr>
          <p:cNvPr id="165" name="Google Shape;165;p22"/>
          <p:cNvSpPr txBox="1"/>
          <p:nvPr>
            <p:ph idx="12" type="sldNum"/>
          </p:nvPr>
        </p:nvSpPr>
        <p:spPr>
          <a:xfrm>
            <a:off x="8224405" y="4936201"/>
            <a:ext cx="63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166" name="Google Shape;166;p22"/>
          <p:cNvSpPr txBox="1"/>
          <p:nvPr/>
        </p:nvSpPr>
        <p:spPr>
          <a:xfrm>
            <a:off x="6572903" y="450081"/>
            <a:ext cx="2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[LOGO CÔNG TY]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394854" y="1514161"/>
            <a:ext cx="8468100" cy="2957700"/>
          </a:xfrm>
          <a:prstGeom prst="roundRect">
            <a:avLst>
              <a:gd fmla="val 16667" name="adj"/>
            </a:avLst>
          </a:prstGeom>
          <a:solidFill>
            <a:srgbClr val="FFECE7"/>
          </a:solidFill>
          <a:ln cap="flat" cmpd="sng" w="19050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598640" y="2520429"/>
            <a:ext cx="8052300" cy="9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vi" sz="1200"/>
              <a:t>Nội dung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394850" y="1283712"/>
            <a:ext cx="4572600" cy="677400"/>
          </a:xfrm>
          <a:prstGeom prst="roundRect">
            <a:avLst>
              <a:gd fmla="val 16667" name="adj"/>
            </a:avLst>
          </a:prstGeom>
          <a:solidFill>
            <a:srgbClr val="CF2800"/>
          </a:solidFill>
          <a:ln cap="flat" cmpd="sng" w="19050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FFFFFF"/>
                </a:solidFill>
              </a:rPr>
              <a:t>Kỹ thuật công nghệ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/>
        </p:nvSpPr>
        <p:spPr>
          <a:xfrm>
            <a:off x="394850" y="0"/>
            <a:ext cx="5822700" cy="677400"/>
          </a:xfrm>
          <a:prstGeom prst="rect">
            <a:avLst/>
          </a:prstGeom>
          <a:solidFill>
            <a:srgbClr val="CF2800"/>
          </a:solidFill>
          <a:ln>
            <a:noFill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CHI TIẾT CÁC VẤN ĐỀ TỒN ĐỌNG</a:t>
            </a:r>
            <a:endParaRPr/>
          </a:p>
        </p:txBody>
      </p:sp>
      <p:sp>
        <p:nvSpPr>
          <p:cNvPr id="175" name="Google Shape;175;p23"/>
          <p:cNvSpPr txBox="1"/>
          <p:nvPr>
            <p:ph idx="12" type="sldNum"/>
          </p:nvPr>
        </p:nvSpPr>
        <p:spPr>
          <a:xfrm>
            <a:off x="8224405" y="4936201"/>
            <a:ext cx="63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176" name="Google Shape;176;p23"/>
          <p:cNvSpPr txBox="1"/>
          <p:nvPr/>
        </p:nvSpPr>
        <p:spPr>
          <a:xfrm>
            <a:off x="6572903" y="450081"/>
            <a:ext cx="2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[LOGO CÔNG TY]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394854" y="1514161"/>
            <a:ext cx="8468100" cy="2957700"/>
          </a:xfrm>
          <a:prstGeom prst="roundRect">
            <a:avLst>
              <a:gd fmla="val 16667" name="adj"/>
            </a:avLst>
          </a:prstGeom>
          <a:solidFill>
            <a:srgbClr val="FFECE7"/>
          </a:solidFill>
          <a:ln cap="flat" cmpd="sng" w="19050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598640" y="2520429"/>
            <a:ext cx="8052300" cy="9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vi" sz="1200"/>
              <a:t>Nội dung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394850" y="1283712"/>
            <a:ext cx="4572600" cy="677400"/>
          </a:xfrm>
          <a:prstGeom prst="roundRect">
            <a:avLst>
              <a:gd fmla="val 16667" name="adj"/>
            </a:avLst>
          </a:prstGeom>
          <a:solidFill>
            <a:srgbClr val="CF2800"/>
          </a:solidFill>
          <a:ln cap="flat" cmpd="sng" w="19050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FFFFFF"/>
                </a:solidFill>
              </a:rPr>
              <a:t>Quy trình và tuân thủ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/>
        </p:nvSpPr>
        <p:spPr>
          <a:xfrm>
            <a:off x="394850" y="0"/>
            <a:ext cx="5822700" cy="985200"/>
          </a:xfrm>
          <a:prstGeom prst="rect">
            <a:avLst/>
          </a:prstGeom>
          <a:solidFill>
            <a:srgbClr val="CF2800"/>
          </a:solidFill>
          <a:ln>
            <a:noFill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HOẠT ĐỘNG CẢI TIẾN – GIẢI PHÁP 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NÂNG CAO AN TOÀN THÔNG TIN</a:t>
            </a:r>
            <a:endParaRPr/>
          </a:p>
        </p:txBody>
      </p:sp>
      <p:sp>
        <p:nvSpPr>
          <p:cNvPr id="185" name="Google Shape;185;p24"/>
          <p:cNvSpPr txBox="1"/>
          <p:nvPr>
            <p:ph idx="12" type="sldNum"/>
          </p:nvPr>
        </p:nvSpPr>
        <p:spPr>
          <a:xfrm>
            <a:off x="8224405" y="4936201"/>
            <a:ext cx="63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186" name="Google Shape;186;p24"/>
          <p:cNvSpPr txBox="1"/>
          <p:nvPr/>
        </p:nvSpPr>
        <p:spPr>
          <a:xfrm>
            <a:off x="6572903" y="450081"/>
            <a:ext cx="2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[LOGO CÔNG TY]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4"/>
          <p:cNvSpPr txBox="1"/>
          <p:nvPr/>
        </p:nvSpPr>
        <p:spPr>
          <a:xfrm>
            <a:off x="394847" y="1148697"/>
            <a:ext cx="786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63A65"/>
              </a:buClr>
              <a:buSzPts val="1600"/>
              <a:buFont typeface="Arial"/>
              <a:buNone/>
            </a:pPr>
            <a:r>
              <a:rPr i="1" lang="vi" sz="1600">
                <a:solidFill>
                  <a:srgbClr val="063A65"/>
                </a:solidFill>
              </a:rPr>
              <a:t>Tên giải pháp</a:t>
            </a:r>
            <a:endParaRPr b="0" i="1" sz="1600" u="none" cap="none" strike="noStrike">
              <a:solidFill>
                <a:srgbClr val="063A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4"/>
          <p:cNvSpPr/>
          <p:nvPr/>
        </p:nvSpPr>
        <p:spPr>
          <a:xfrm>
            <a:off x="661971" y="1935083"/>
            <a:ext cx="3424500" cy="2606100"/>
          </a:xfrm>
          <a:prstGeom prst="roundRect">
            <a:avLst>
              <a:gd fmla="val 5723" name="adj"/>
            </a:avLst>
          </a:prstGeom>
          <a:noFill/>
          <a:ln cap="flat" cmpd="sng" w="12700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4640785" y="1935083"/>
            <a:ext cx="3532200" cy="2606100"/>
          </a:xfrm>
          <a:prstGeom prst="roundRect">
            <a:avLst>
              <a:gd fmla="val 5723" name="adj"/>
            </a:avLst>
          </a:prstGeom>
          <a:noFill/>
          <a:ln cap="flat" cmpd="sng" w="12700">
            <a:solidFill>
              <a:srgbClr val="063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0" name="Google Shape;190;p24"/>
          <p:cNvGrpSpPr/>
          <p:nvPr/>
        </p:nvGrpSpPr>
        <p:grpSpPr>
          <a:xfrm>
            <a:off x="554450" y="1700336"/>
            <a:ext cx="3370627" cy="378627"/>
            <a:chOff x="2450882" y="1285223"/>
            <a:chExt cx="3370627" cy="515700"/>
          </a:xfrm>
        </p:grpSpPr>
        <p:sp>
          <p:nvSpPr>
            <p:cNvPr id="191" name="Google Shape;191;p24"/>
            <p:cNvSpPr/>
            <p:nvPr/>
          </p:nvSpPr>
          <p:spPr>
            <a:xfrm>
              <a:off x="2558409" y="1410821"/>
              <a:ext cx="3263100" cy="307800"/>
            </a:xfrm>
            <a:prstGeom prst="roundRect">
              <a:avLst>
                <a:gd fmla="val 16667" name="adj"/>
              </a:avLst>
            </a:prstGeom>
            <a:solidFill>
              <a:srgbClr val="CF2800"/>
            </a:solidFill>
            <a:ln cap="flat" cmpd="sng" w="25400">
              <a:solidFill>
                <a:srgbClr val="CF2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vi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    </a:t>
              </a:r>
              <a:r>
                <a:rPr b="1" lang="vi">
                  <a:solidFill>
                    <a:srgbClr val="FFFFFF"/>
                  </a:solidFill>
                </a:rPr>
                <a:t>Hiện trạng và vấn đề rủi ro</a:t>
              </a:r>
              <a:endPara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4"/>
            <p:cNvSpPr/>
            <p:nvPr/>
          </p:nvSpPr>
          <p:spPr>
            <a:xfrm>
              <a:off x="2450882" y="1285223"/>
              <a:ext cx="528600" cy="515700"/>
            </a:xfrm>
            <a:prstGeom prst="ellipse">
              <a:avLst/>
            </a:prstGeom>
            <a:solidFill>
              <a:srgbClr val="CF2800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Open folder with solid fill" id="193" name="Google Shape;193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26050" y="1363114"/>
              <a:ext cx="378128" cy="37812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Server with solid fill" id="194" name="Google Shape;19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225" y="1757481"/>
            <a:ext cx="355521" cy="2610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p24"/>
          <p:cNvGrpSpPr/>
          <p:nvPr/>
        </p:nvGrpSpPr>
        <p:grpSpPr>
          <a:xfrm>
            <a:off x="4519196" y="1700336"/>
            <a:ext cx="3478033" cy="378627"/>
            <a:chOff x="2450882" y="1285223"/>
            <a:chExt cx="3478033" cy="515700"/>
          </a:xfrm>
        </p:grpSpPr>
        <p:sp>
          <p:nvSpPr>
            <p:cNvPr id="196" name="Google Shape;196;p24"/>
            <p:cNvSpPr/>
            <p:nvPr/>
          </p:nvSpPr>
          <p:spPr>
            <a:xfrm>
              <a:off x="2558415" y="1410821"/>
              <a:ext cx="3370500" cy="307800"/>
            </a:xfrm>
            <a:prstGeom prst="roundRect">
              <a:avLst>
                <a:gd fmla="val 16667" name="adj"/>
              </a:avLst>
            </a:prstGeom>
            <a:solidFill>
              <a:srgbClr val="063A65"/>
            </a:solidFill>
            <a:ln cap="flat" cmpd="sng" w="25400">
              <a:solidFill>
                <a:srgbClr val="063A6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>
                  <a:solidFill>
                    <a:srgbClr val="FFFFFF"/>
                  </a:solidFill>
                </a:rPr>
                <a:t>Hoạt động cải tiến và kết quả</a:t>
              </a:r>
              <a:endPara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4"/>
            <p:cNvSpPr/>
            <p:nvPr/>
          </p:nvSpPr>
          <p:spPr>
            <a:xfrm>
              <a:off x="2450882" y="1285223"/>
              <a:ext cx="528600" cy="515700"/>
            </a:xfrm>
            <a:prstGeom prst="ellipse">
              <a:avLst/>
            </a:prstGeom>
            <a:solidFill>
              <a:srgbClr val="063A65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Cloud Computing with solid fill" id="198" name="Google Shape;19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0784" y="1769668"/>
            <a:ext cx="336121" cy="246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/>
        </p:nvSpPr>
        <p:spPr>
          <a:xfrm>
            <a:off x="394850" y="0"/>
            <a:ext cx="5822700" cy="985200"/>
          </a:xfrm>
          <a:prstGeom prst="rect">
            <a:avLst/>
          </a:prstGeom>
          <a:solidFill>
            <a:srgbClr val="CF2800"/>
          </a:solidFill>
          <a:ln>
            <a:noFill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HOẠT ĐỘNG CẢI TIẾN – GIẢI PHÁP 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NÂNG CAO AN TOÀN THÔNG TIN</a:t>
            </a:r>
            <a:endParaRPr/>
          </a:p>
        </p:txBody>
      </p:sp>
      <p:sp>
        <p:nvSpPr>
          <p:cNvPr id="204" name="Google Shape;204;p25"/>
          <p:cNvSpPr txBox="1"/>
          <p:nvPr>
            <p:ph idx="12" type="sldNum"/>
          </p:nvPr>
        </p:nvSpPr>
        <p:spPr>
          <a:xfrm>
            <a:off x="8224405" y="4936201"/>
            <a:ext cx="63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205" name="Google Shape;205;p25"/>
          <p:cNvSpPr txBox="1"/>
          <p:nvPr/>
        </p:nvSpPr>
        <p:spPr>
          <a:xfrm>
            <a:off x="6572903" y="450081"/>
            <a:ext cx="2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[LOGO CÔNG TY]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25"/>
          <p:cNvSpPr txBox="1"/>
          <p:nvPr/>
        </p:nvSpPr>
        <p:spPr>
          <a:xfrm>
            <a:off x="394847" y="1148697"/>
            <a:ext cx="786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63A65"/>
              </a:buClr>
              <a:buSzPts val="1600"/>
              <a:buFont typeface="Arial"/>
              <a:buNone/>
            </a:pPr>
            <a:r>
              <a:rPr i="1" lang="vi" sz="1600">
                <a:solidFill>
                  <a:srgbClr val="063A65"/>
                </a:solidFill>
              </a:rPr>
              <a:t>Tên giải pháp</a:t>
            </a:r>
            <a:endParaRPr b="0" i="1" sz="1600" u="none" cap="none" strike="noStrike">
              <a:solidFill>
                <a:srgbClr val="063A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5"/>
          <p:cNvSpPr/>
          <p:nvPr/>
        </p:nvSpPr>
        <p:spPr>
          <a:xfrm>
            <a:off x="661971" y="1935083"/>
            <a:ext cx="3424500" cy="2606100"/>
          </a:xfrm>
          <a:prstGeom prst="roundRect">
            <a:avLst>
              <a:gd fmla="val 5723" name="adj"/>
            </a:avLst>
          </a:prstGeom>
          <a:noFill/>
          <a:ln cap="flat" cmpd="sng" w="12700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4640785" y="1935083"/>
            <a:ext cx="3532200" cy="2606100"/>
          </a:xfrm>
          <a:prstGeom prst="roundRect">
            <a:avLst>
              <a:gd fmla="val 5723" name="adj"/>
            </a:avLst>
          </a:prstGeom>
          <a:noFill/>
          <a:ln cap="flat" cmpd="sng" w="12700">
            <a:solidFill>
              <a:srgbClr val="063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25"/>
          <p:cNvGrpSpPr/>
          <p:nvPr/>
        </p:nvGrpSpPr>
        <p:grpSpPr>
          <a:xfrm>
            <a:off x="554450" y="1700336"/>
            <a:ext cx="3370627" cy="378627"/>
            <a:chOff x="2450882" y="1285223"/>
            <a:chExt cx="3370627" cy="515700"/>
          </a:xfrm>
        </p:grpSpPr>
        <p:sp>
          <p:nvSpPr>
            <p:cNvPr id="210" name="Google Shape;210;p25"/>
            <p:cNvSpPr/>
            <p:nvPr/>
          </p:nvSpPr>
          <p:spPr>
            <a:xfrm>
              <a:off x="2558409" y="1410821"/>
              <a:ext cx="3263100" cy="307800"/>
            </a:xfrm>
            <a:prstGeom prst="roundRect">
              <a:avLst>
                <a:gd fmla="val 16667" name="adj"/>
              </a:avLst>
            </a:prstGeom>
            <a:solidFill>
              <a:srgbClr val="CF2800"/>
            </a:solidFill>
            <a:ln cap="flat" cmpd="sng" w="25400">
              <a:solidFill>
                <a:srgbClr val="CF2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vi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    </a:t>
              </a:r>
              <a:r>
                <a:rPr b="1" lang="vi">
                  <a:solidFill>
                    <a:srgbClr val="FFFFFF"/>
                  </a:solidFill>
                </a:rPr>
                <a:t>Hiện trạng và vấn đề rủi ro</a:t>
              </a:r>
              <a:endPara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5"/>
            <p:cNvSpPr/>
            <p:nvPr/>
          </p:nvSpPr>
          <p:spPr>
            <a:xfrm>
              <a:off x="2450882" y="1285223"/>
              <a:ext cx="528600" cy="515700"/>
            </a:xfrm>
            <a:prstGeom prst="ellipse">
              <a:avLst/>
            </a:prstGeom>
            <a:solidFill>
              <a:srgbClr val="CF2800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Open folder with solid fill" id="212" name="Google Shape;212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26050" y="1363114"/>
              <a:ext cx="378128" cy="37812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Server with solid fill" id="213" name="Google Shape;21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225" y="1757481"/>
            <a:ext cx="355521" cy="2610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p25"/>
          <p:cNvGrpSpPr/>
          <p:nvPr/>
        </p:nvGrpSpPr>
        <p:grpSpPr>
          <a:xfrm>
            <a:off x="4519196" y="1700336"/>
            <a:ext cx="3478033" cy="378627"/>
            <a:chOff x="2450882" y="1285223"/>
            <a:chExt cx="3478033" cy="515700"/>
          </a:xfrm>
        </p:grpSpPr>
        <p:sp>
          <p:nvSpPr>
            <p:cNvPr id="215" name="Google Shape;215;p25"/>
            <p:cNvSpPr/>
            <p:nvPr/>
          </p:nvSpPr>
          <p:spPr>
            <a:xfrm>
              <a:off x="2558415" y="1410821"/>
              <a:ext cx="3370500" cy="307800"/>
            </a:xfrm>
            <a:prstGeom prst="roundRect">
              <a:avLst>
                <a:gd fmla="val 16667" name="adj"/>
              </a:avLst>
            </a:prstGeom>
            <a:solidFill>
              <a:srgbClr val="063A65"/>
            </a:solidFill>
            <a:ln cap="flat" cmpd="sng" w="25400">
              <a:solidFill>
                <a:srgbClr val="063A6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>
                  <a:solidFill>
                    <a:srgbClr val="FFFFFF"/>
                  </a:solidFill>
                </a:rPr>
                <a:t>Hoạt động cải tiến và kết quả</a:t>
              </a:r>
              <a:endPara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5"/>
            <p:cNvSpPr/>
            <p:nvPr/>
          </p:nvSpPr>
          <p:spPr>
            <a:xfrm>
              <a:off x="2450882" y="1285223"/>
              <a:ext cx="528600" cy="515700"/>
            </a:xfrm>
            <a:prstGeom prst="ellipse">
              <a:avLst/>
            </a:prstGeom>
            <a:solidFill>
              <a:srgbClr val="063A65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Cloud Computing with solid fill" id="217" name="Google Shape;21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0784" y="1769668"/>
            <a:ext cx="336121" cy="246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/>
        </p:nvSpPr>
        <p:spPr>
          <a:xfrm>
            <a:off x="394850" y="0"/>
            <a:ext cx="5822700" cy="985200"/>
          </a:xfrm>
          <a:prstGeom prst="rect">
            <a:avLst/>
          </a:prstGeom>
          <a:solidFill>
            <a:srgbClr val="CF2800"/>
          </a:solidFill>
          <a:ln>
            <a:noFill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HOẠT ĐỘNG CẢI TIẾN – GIẢI PHÁP 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NÂNG CAO AN TOÀN THÔNG TIN</a:t>
            </a:r>
            <a:endParaRPr/>
          </a:p>
        </p:txBody>
      </p:sp>
      <p:sp>
        <p:nvSpPr>
          <p:cNvPr id="223" name="Google Shape;223;p26"/>
          <p:cNvSpPr txBox="1"/>
          <p:nvPr>
            <p:ph idx="12" type="sldNum"/>
          </p:nvPr>
        </p:nvSpPr>
        <p:spPr>
          <a:xfrm>
            <a:off x="8224405" y="4936201"/>
            <a:ext cx="63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224" name="Google Shape;224;p26"/>
          <p:cNvSpPr txBox="1"/>
          <p:nvPr/>
        </p:nvSpPr>
        <p:spPr>
          <a:xfrm>
            <a:off x="6572903" y="450081"/>
            <a:ext cx="2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[LOGO CÔNG TY]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394847" y="1148697"/>
            <a:ext cx="786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63A65"/>
              </a:buClr>
              <a:buSzPts val="1600"/>
              <a:buFont typeface="Arial"/>
              <a:buNone/>
            </a:pPr>
            <a:r>
              <a:rPr i="1" lang="vi" sz="1600">
                <a:solidFill>
                  <a:srgbClr val="063A65"/>
                </a:solidFill>
              </a:rPr>
              <a:t>Tên giải pháp</a:t>
            </a:r>
            <a:endParaRPr b="0" i="1" sz="1600" u="none" cap="none" strike="noStrike">
              <a:solidFill>
                <a:srgbClr val="063A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661971" y="1935083"/>
            <a:ext cx="3424500" cy="2606100"/>
          </a:xfrm>
          <a:prstGeom prst="roundRect">
            <a:avLst>
              <a:gd fmla="val 5723" name="adj"/>
            </a:avLst>
          </a:prstGeom>
          <a:noFill/>
          <a:ln cap="flat" cmpd="sng" w="12700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4640785" y="1935083"/>
            <a:ext cx="3532200" cy="2606100"/>
          </a:xfrm>
          <a:prstGeom prst="roundRect">
            <a:avLst>
              <a:gd fmla="val 5723" name="adj"/>
            </a:avLst>
          </a:prstGeom>
          <a:noFill/>
          <a:ln cap="flat" cmpd="sng" w="12700">
            <a:solidFill>
              <a:srgbClr val="063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" name="Google Shape;228;p26"/>
          <p:cNvGrpSpPr/>
          <p:nvPr/>
        </p:nvGrpSpPr>
        <p:grpSpPr>
          <a:xfrm>
            <a:off x="554450" y="1700336"/>
            <a:ext cx="3370627" cy="378627"/>
            <a:chOff x="2450882" y="1285223"/>
            <a:chExt cx="3370627" cy="515700"/>
          </a:xfrm>
        </p:grpSpPr>
        <p:sp>
          <p:nvSpPr>
            <p:cNvPr id="229" name="Google Shape;229;p26"/>
            <p:cNvSpPr/>
            <p:nvPr/>
          </p:nvSpPr>
          <p:spPr>
            <a:xfrm>
              <a:off x="2558409" y="1410821"/>
              <a:ext cx="3263100" cy="307800"/>
            </a:xfrm>
            <a:prstGeom prst="roundRect">
              <a:avLst>
                <a:gd fmla="val 16667" name="adj"/>
              </a:avLst>
            </a:prstGeom>
            <a:solidFill>
              <a:srgbClr val="CF2800"/>
            </a:solidFill>
            <a:ln cap="flat" cmpd="sng" w="25400">
              <a:solidFill>
                <a:srgbClr val="CF2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vi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    </a:t>
              </a:r>
              <a:r>
                <a:rPr b="1" lang="vi">
                  <a:solidFill>
                    <a:srgbClr val="FFFFFF"/>
                  </a:solidFill>
                </a:rPr>
                <a:t>Hiện trạng và vấn đề rủi ro</a:t>
              </a:r>
              <a:endPara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2450882" y="1285223"/>
              <a:ext cx="528600" cy="515700"/>
            </a:xfrm>
            <a:prstGeom prst="ellipse">
              <a:avLst/>
            </a:prstGeom>
            <a:solidFill>
              <a:srgbClr val="CF2800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Open folder with solid fill" id="231" name="Google Shape;231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26050" y="1363114"/>
              <a:ext cx="378128" cy="37812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Server with solid fill" id="232" name="Google Shape;23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225" y="1757481"/>
            <a:ext cx="355521" cy="2610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26"/>
          <p:cNvGrpSpPr/>
          <p:nvPr/>
        </p:nvGrpSpPr>
        <p:grpSpPr>
          <a:xfrm>
            <a:off x="4519196" y="1700336"/>
            <a:ext cx="3478033" cy="378627"/>
            <a:chOff x="2450882" y="1285223"/>
            <a:chExt cx="3478033" cy="515700"/>
          </a:xfrm>
        </p:grpSpPr>
        <p:sp>
          <p:nvSpPr>
            <p:cNvPr id="234" name="Google Shape;234;p26"/>
            <p:cNvSpPr/>
            <p:nvPr/>
          </p:nvSpPr>
          <p:spPr>
            <a:xfrm>
              <a:off x="2558415" y="1410821"/>
              <a:ext cx="3370500" cy="307800"/>
            </a:xfrm>
            <a:prstGeom prst="roundRect">
              <a:avLst>
                <a:gd fmla="val 16667" name="adj"/>
              </a:avLst>
            </a:prstGeom>
            <a:solidFill>
              <a:srgbClr val="063A65"/>
            </a:solidFill>
            <a:ln cap="flat" cmpd="sng" w="25400">
              <a:solidFill>
                <a:srgbClr val="063A6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>
                  <a:solidFill>
                    <a:srgbClr val="FFFFFF"/>
                  </a:solidFill>
                </a:rPr>
                <a:t>Hoạt động cải tiến và kết quả</a:t>
              </a:r>
              <a:endPara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2450882" y="1285223"/>
              <a:ext cx="528600" cy="515700"/>
            </a:xfrm>
            <a:prstGeom prst="ellipse">
              <a:avLst/>
            </a:prstGeom>
            <a:solidFill>
              <a:srgbClr val="063A65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Cloud Computing with solid fill" id="236" name="Google Shape;23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0784" y="1769668"/>
            <a:ext cx="336121" cy="246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 txBox="1"/>
          <p:nvPr/>
        </p:nvSpPr>
        <p:spPr>
          <a:xfrm>
            <a:off x="394850" y="0"/>
            <a:ext cx="5822700" cy="985200"/>
          </a:xfrm>
          <a:prstGeom prst="rect">
            <a:avLst/>
          </a:prstGeom>
          <a:solidFill>
            <a:srgbClr val="CF2800"/>
          </a:solidFill>
          <a:ln>
            <a:noFill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HOẠT ĐỘNG CẢI TIẾN – GIẢI PHÁP 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NÂNG CAO AN TOÀN THÔNG TIN</a:t>
            </a:r>
            <a:endParaRPr/>
          </a:p>
        </p:txBody>
      </p:sp>
      <p:sp>
        <p:nvSpPr>
          <p:cNvPr id="242" name="Google Shape;242;p27"/>
          <p:cNvSpPr txBox="1"/>
          <p:nvPr>
            <p:ph idx="12" type="sldNum"/>
          </p:nvPr>
        </p:nvSpPr>
        <p:spPr>
          <a:xfrm>
            <a:off x="8224405" y="4936201"/>
            <a:ext cx="63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243" name="Google Shape;243;p27"/>
          <p:cNvSpPr txBox="1"/>
          <p:nvPr/>
        </p:nvSpPr>
        <p:spPr>
          <a:xfrm>
            <a:off x="6572903" y="450081"/>
            <a:ext cx="2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[LOGO CÔNG TY]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27"/>
          <p:cNvSpPr txBox="1"/>
          <p:nvPr/>
        </p:nvSpPr>
        <p:spPr>
          <a:xfrm>
            <a:off x="394847" y="1148697"/>
            <a:ext cx="786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63A65"/>
              </a:buClr>
              <a:buSzPts val="1600"/>
              <a:buFont typeface="Arial"/>
              <a:buNone/>
            </a:pPr>
            <a:r>
              <a:rPr i="1" lang="vi" sz="1600">
                <a:solidFill>
                  <a:srgbClr val="063A65"/>
                </a:solidFill>
              </a:rPr>
              <a:t>Tên giải pháp</a:t>
            </a:r>
            <a:endParaRPr b="0" i="1" sz="1600" u="none" cap="none" strike="noStrike">
              <a:solidFill>
                <a:srgbClr val="063A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7"/>
          <p:cNvSpPr/>
          <p:nvPr/>
        </p:nvSpPr>
        <p:spPr>
          <a:xfrm>
            <a:off x="661971" y="1935083"/>
            <a:ext cx="3424500" cy="2606100"/>
          </a:xfrm>
          <a:prstGeom prst="roundRect">
            <a:avLst>
              <a:gd fmla="val 5723" name="adj"/>
            </a:avLst>
          </a:prstGeom>
          <a:noFill/>
          <a:ln cap="flat" cmpd="sng" w="12700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7"/>
          <p:cNvSpPr/>
          <p:nvPr/>
        </p:nvSpPr>
        <p:spPr>
          <a:xfrm>
            <a:off x="4640785" y="1935083"/>
            <a:ext cx="3532200" cy="2606100"/>
          </a:xfrm>
          <a:prstGeom prst="roundRect">
            <a:avLst>
              <a:gd fmla="val 5723" name="adj"/>
            </a:avLst>
          </a:prstGeom>
          <a:noFill/>
          <a:ln cap="flat" cmpd="sng" w="12700">
            <a:solidFill>
              <a:srgbClr val="063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7" name="Google Shape;247;p27"/>
          <p:cNvGrpSpPr/>
          <p:nvPr/>
        </p:nvGrpSpPr>
        <p:grpSpPr>
          <a:xfrm>
            <a:off x="554450" y="1700336"/>
            <a:ext cx="3370627" cy="378627"/>
            <a:chOff x="2450882" y="1285223"/>
            <a:chExt cx="3370627" cy="515700"/>
          </a:xfrm>
        </p:grpSpPr>
        <p:sp>
          <p:nvSpPr>
            <p:cNvPr id="248" name="Google Shape;248;p27"/>
            <p:cNvSpPr/>
            <p:nvPr/>
          </p:nvSpPr>
          <p:spPr>
            <a:xfrm>
              <a:off x="2558409" y="1410821"/>
              <a:ext cx="3263100" cy="307800"/>
            </a:xfrm>
            <a:prstGeom prst="roundRect">
              <a:avLst>
                <a:gd fmla="val 16667" name="adj"/>
              </a:avLst>
            </a:prstGeom>
            <a:solidFill>
              <a:srgbClr val="CF2800"/>
            </a:solidFill>
            <a:ln cap="flat" cmpd="sng" w="25400">
              <a:solidFill>
                <a:srgbClr val="CF2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vi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    </a:t>
              </a:r>
              <a:r>
                <a:rPr b="1" lang="vi">
                  <a:solidFill>
                    <a:srgbClr val="FFFFFF"/>
                  </a:solidFill>
                </a:rPr>
                <a:t>Hiện trạng và vấn đề rủi ro</a:t>
              </a:r>
              <a:endPara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7"/>
            <p:cNvSpPr/>
            <p:nvPr/>
          </p:nvSpPr>
          <p:spPr>
            <a:xfrm>
              <a:off x="2450882" y="1285223"/>
              <a:ext cx="528600" cy="515700"/>
            </a:xfrm>
            <a:prstGeom prst="ellipse">
              <a:avLst/>
            </a:prstGeom>
            <a:solidFill>
              <a:srgbClr val="CF2800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Open folder with solid fill" id="250" name="Google Shape;25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26050" y="1363114"/>
              <a:ext cx="378128" cy="37812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Server with solid fill" id="251" name="Google Shape;25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225" y="1757481"/>
            <a:ext cx="355521" cy="2610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2" name="Google Shape;252;p27"/>
          <p:cNvGrpSpPr/>
          <p:nvPr/>
        </p:nvGrpSpPr>
        <p:grpSpPr>
          <a:xfrm>
            <a:off x="4519196" y="1700336"/>
            <a:ext cx="3478033" cy="378627"/>
            <a:chOff x="2450882" y="1285223"/>
            <a:chExt cx="3478033" cy="515700"/>
          </a:xfrm>
        </p:grpSpPr>
        <p:sp>
          <p:nvSpPr>
            <p:cNvPr id="253" name="Google Shape;253;p27"/>
            <p:cNvSpPr/>
            <p:nvPr/>
          </p:nvSpPr>
          <p:spPr>
            <a:xfrm>
              <a:off x="2558415" y="1410821"/>
              <a:ext cx="3370500" cy="307800"/>
            </a:xfrm>
            <a:prstGeom prst="roundRect">
              <a:avLst>
                <a:gd fmla="val 16667" name="adj"/>
              </a:avLst>
            </a:prstGeom>
            <a:solidFill>
              <a:srgbClr val="063A65"/>
            </a:solidFill>
            <a:ln cap="flat" cmpd="sng" w="25400">
              <a:solidFill>
                <a:srgbClr val="063A6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>
                  <a:solidFill>
                    <a:srgbClr val="FFFFFF"/>
                  </a:solidFill>
                </a:rPr>
                <a:t>Hoạt động cải tiến và kết quả</a:t>
              </a:r>
              <a:endPara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2450882" y="1285223"/>
              <a:ext cx="528600" cy="515700"/>
            </a:xfrm>
            <a:prstGeom prst="ellipse">
              <a:avLst/>
            </a:prstGeom>
            <a:solidFill>
              <a:srgbClr val="063A65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Cloud Computing with solid fill" id="255" name="Google Shape;25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0784" y="1769668"/>
            <a:ext cx="336121" cy="246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"/>
          <p:cNvSpPr txBox="1"/>
          <p:nvPr/>
        </p:nvSpPr>
        <p:spPr>
          <a:xfrm>
            <a:off x="394850" y="0"/>
            <a:ext cx="5822700" cy="677400"/>
          </a:xfrm>
          <a:prstGeom prst="rect">
            <a:avLst/>
          </a:prstGeom>
          <a:solidFill>
            <a:srgbClr val="CF2800"/>
          </a:solidFill>
          <a:ln>
            <a:noFill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KỊCH BẢN ỨNG PHÓ NẾU SỰ SỐ XẢY RA</a:t>
            </a:r>
            <a:endParaRPr/>
          </a:p>
        </p:txBody>
      </p:sp>
      <p:sp>
        <p:nvSpPr>
          <p:cNvPr id="261" name="Google Shape;261;p28"/>
          <p:cNvSpPr txBox="1"/>
          <p:nvPr>
            <p:ph idx="12" type="sldNum"/>
          </p:nvPr>
        </p:nvSpPr>
        <p:spPr>
          <a:xfrm>
            <a:off x="8224405" y="4936201"/>
            <a:ext cx="63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262" name="Google Shape;262;p28"/>
          <p:cNvSpPr txBox="1"/>
          <p:nvPr/>
        </p:nvSpPr>
        <p:spPr>
          <a:xfrm>
            <a:off x="6572903" y="450081"/>
            <a:ext cx="2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[LOGO CÔNG TY]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715373" y="1422352"/>
            <a:ext cx="8147700" cy="3048000"/>
          </a:xfrm>
          <a:prstGeom prst="roundRect">
            <a:avLst>
              <a:gd fmla="val 5981" name="adj"/>
            </a:avLst>
          </a:prstGeom>
          <a:noFill/>
          <a:ln cap="flat" cmpd="sng" w="19050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" name="Google Shape;264;p28"/>
          <p:cNvGrpSpPr/>
          <p:nvPr/>
        </p:nvGrpSpPr>
        <p:grpSpPr>
          <a:xfrm>
            <a:off x="394906" y="1143251"/>
            <a:ext cx="4259272" cy="515700"/>
            <a:chOff x="2450882" y="1285223"/>
            <a:chExt cx="4091520" cy="515700"/>
          </a:xfrm>
        </p:grpSpPr>
        <p:sp>
          <p:nvSpPr>
            <p:cNvPr id="265" name="Google Shape;265;p28"/>
            <p:cNvSpPr/>
            <p:nvPr/>
          </p:nvSpPr>
          <p:spPr>
            <a:xfrm>
              <a:off x="2558402" y="1410819"/>
              <a:ext cx="3984000" cy="307800"/>
            </a:xfrm>
            <a:prstGeom prst="roundRect">
              <a:avLst>
                <a:gd fmla="val 16667" name="adj"/>
              </a:avLst>
            </a:prstGeom>
            <a:solidFill>
              <a:srgbClr val="CF2800"/>
            </a:solidFill>
            <a:ln cap="flat" cmpd="sng" w="25400">
              <a:solidFill>
                <a:srgbClr val="CF2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>
                  <a:solidFill>
                    <a:srgbClr val="FFFFFF"/>
                  </a:solidFill>
                </a:rPr>
                <a:t>Kịch bản</a:t>
              </a:r>
              <a:endPara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8"/>
            <p:cNvSpPr/>
            <p:nvPr/>
          </p:nvSpPr>
          <p:spPr>
            <a:xfrm>
              <a:off x="2450882" y="1285223"/>
              <a:ext cx="528600" cy="515700"/>
            </a:xfrm>
            <a:prstGeom prst="ellipse">
              <a:avLst/>
            </a:prstGeom>
            <a:solidFill>
              <a:srgbClr val="CF2800"/>
            </a:solidFill>
            <a:ln cap="flat" cmpd="sng" w="25400">
              <a:solidFill>
                <a:srgbClr val="CF28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Open folder with solid fill" id="267" name="Google Shape;26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26050" y="1363114"/>
              <a:ext cx="378128" cy="37812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68" name="Google Shape;268;p28"/>
          <p:cNvCxnSpPr/>
          <p:nvPr/>
        </p:nvCxnSpPr>
        <p:spPr>
          <a:xfrm>
            <a:off x="1214175" y="2377850"/>
            <a:ext cx="7211700" cy="11700"/>
          </a:xfrm>
          <a:prstGeom prst="straightConnector1">
            <a:avLst/>
          </a:prstGeom>
          <a:noFill/>
          <a:ln cap="flat" cmpd="sng" w="9525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28"/>
          <p:cNvCxnSpPr/>
          <p:nvPr/>
        </p:nvCxnSpPr>
        <p:spPr>
          <a:xfrm>
            <a:off x="1214175" y="3045761"/>
            <a:ext cx="7211700" cy="9000"/>
          </a:xfrm>
          <a:prstGeom prst="straightConnector1">
            <a:avLst/>
          </a:prstGeom>
          <a:noFill/>
          <a:ln cap="flat" cmpd="sng" w="9525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28"/>
          <p:cNvCxnSpPr/>
          <p:nvPr/>
        </p:nvCxnSpPr>
        <p:spPr>
          <a:xfrm>
            <a:off x="1214175" y="3721275"/>
            <a:ext cx="7211700" cy="9000"/>
          </a:xfrm>
          <a:prstGeom prst="straightConnector1">
            <a:avLst/>
          </a:prstGeom>
          <a:noFill/>
          <a:ln cap="flat" cmpd="sng" w="9525">
            <a:solidFill>
              <a:srgbClr val="CF28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Server with solid fill" id="271" name="Google Shape;27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420" y="1244591"/>
            <a:ext cx="370089" cy="355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890100" y="2149200"/>
            <a:ext cx="73638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4000">
                <a:solidFill>
                  <a:srgbClr val="CE2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TRÂN TRỌNG CẢM ƠN!</a:t>
            </a:r>
            <a:endParaRPr>
              <a:solidFill>
                <a:srgbClr val="CE2C00"/>
              </a:solidFill>
            </a:endParaRPr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3">
            <a:alphaModFix/>
          </a:blip>
          <a:srcRect b="12816" l="0" r="23885" t="0"/>
          <a:stretch/>
        </p:blipFill>
        <p:spPr>
          <a:xfrm>
            <a:off x="6989656" y="3636275"/>
            <a:ext cx="2182350" cy="150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 txBox="1"/>
          <p:nvPr/>
        </p:nvSpPr>
        <p:spPr>
          <a:xfrm>
            <a:off x="6702153" y="188406"/>
            <a:ext cx="2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[LOGO CÔNG TY]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9" name="Google Shape;279;p29" title="APAC Cybersecurity Fund log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516" y="188410"/>
            <a:ext cx="1911248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9" title="Google 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77947" y="4690475"/>
            <a:ext cx="995679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9" title="BKFintech Logo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28420" y="234025"/>
            <a:ext cx="1465061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9" title="Logo VWEC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38400" y="188400"/>
            <a:ext cx="418825" cy="46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